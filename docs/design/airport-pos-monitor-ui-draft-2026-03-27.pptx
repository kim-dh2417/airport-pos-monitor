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"id": "DSH-01-D",
  "name": "DSH-01 메인 대시보드",
  "route": "/dashboard",
  "purpose": "기준 월의 매장별 위험도와 상태를 빠르게 파악하고 수기 등록/업로드 같은 운영 액션으로 바로 이어지게 하는 메인 허브 화면.",
  "summary": "좌측 사이드바와 상단 글로벌 헤더를 유지한 운영형 레이아웃이다. 중앙 본문은 페이지 헤더, 5개 요약 카드, 필터 바, 위험도 순위 테이블, 하단 운영 보조 카드 순으로 배치한다.",
  "sections": [
    "PageHeader",
    "SummaryRow",
    "FilterBar",
    "TablePanel",
    "SupportCardsRow"
  ],
  "components": [
    "Sidebar Navigation",
    "Global Header",
    "Primary/Secondary Buttons",
    "Summary Metric Cards x5",
    "Filter Fields",
    "Status Badges",
    "Risk Ranking Table",
    "Support Info Cards"
  ],
  "interactions": [
    "요약 카드 클릭 시 해당 상태 필터 적용",
    "테이블 행 클릭 시 매장 상세로 이동",
    "정렬 기본값은 위험도 높은 순",
    "대기 상태 행은 누락 데이터 태그를 함께 노출"
  ],
  "notes": [
    "상태색은 카드 전체를 과하게 물들이지 않고 상단 스트립과 배지 중심으로 사용한다.",
    "핵심 강조는 파랑 액션과 상태색 역할을 분리해 정보가 섞여 보이지 않게 한다.",
    "테이블에서는 차이금액, 차이율, 상태를 우선적으로 읽게 해야 한다.",
    "하단 보조 카드에는 재비교 필요, 누락 데이터, 최근 상태 변경을 요약해 운영자가 놓치지 않게 한다."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"id": "STD-01-D",
  "name": "STD-01 매장 상세",
  "route": "/stores/:storeCode",
  "purpose": "단일 매장의 금월 비교 결과와 판단 근거를 깊게 검토하고 추이/일별 패턴/이슈를 한 화면에서 연결해서 보는 상세 화면.",
  "summary": "상단 메타와 상태 배지 아래에 핵심 비교 카드 5개를 먼저 배치하고, 그 아래에 판단 근거와 운영 정보 패널을 둔다. 이후 월별 추이 차트, 일별 캘린더+선택 일자 상세, 대사 이슈 목록, 외부 참고 데이터 순으로 구성한다.",
  "sections": [
    "PageHeader",
    "MetricCards",
    "InsightRow",
    "TrendChartPanel",
    "CalendarAndDayDetail",
    "IssueTablePanel",
    "ExternalDataPanel"
  ],
  "components": [
    "Back Navigation",
    "Status Badge",
    "Metric Cards x5",
    "Insight Panel",
    "Operations Meta Card",
    "Line Trend Chart",
    "Daily Calendar Grid",
    "Selected Day Detail Card",
    "Issue Table",
    "External Reference Cards x4"
  ],
  "interactions": [
    "캘린더 날짜 선택 시 우측/하단 선택 일자 상세 갱신",
    "대사 이슈 목록은 선택 일자 기준으로 연동 가능하도록 설계",
    "비교축 문구는 항상 전월 대비로 고정 노출",
    "외부 데이터 미연동이어도 영역을 숨기지 않고 플레이스홀더 상태 유지"
  ],
  "notes": [
    "이 화면은 차트보다 판단 근거가 먼저 보여야 한다.",
    "차이금액과 차이율은 가장 큰 숫자 강조가 필요하다.",
    "외부 참고 데이터는 이상 판단의 보정값이 아니라 해석 보조 정보라는 점이 화면에서 읽혀야 한다.",
    "캘린더 셀은 작은 데이터 카드처럼 보여야 하며 P/V/D 구조가 반복적으로 인지되어야 한다."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"id": "DSH-01-M",
  "name": "대시보드 모바일 초안",
  "route": "/dashboard",
  "purpose": "모바일 환경에서 전체 대시보드 테이블을 카드형 목록으로 축약하고 핵심 상태와 액션만 우선 제공하는 조회 중심 화면.",
  "summary": "상단 헤더 아래에 2열 요약 카드 그리드를 두고, 필터 진입 버튼과 카드형 매장 리스트를 세로로 쌓는다. 데스크톱의 과도한 테이블 정보는 카드 1장 안에 상태/차이금액/차이율/정합성 정도로 압축한다.",
  "sections": [
    "MobileHeader",
    "SummaryGrid",
    "FilterEntry",
    "StoreCardList"
  ],
  "components": [
    "Mobile Header",
    "Summary Cards 2x2",
    "Filter Entry Button",
    "Store Summary Cards"
  ],
  "interactions": [
    "카드 터치 시 매장 상세로 이동",
    "필터 열기 버튼으로 상태/정렬/검색 패널 호출",
    "상단에서 수기 등록/업로드 액션 접근 가능"
  ],
  "notes": [
    "모바일에서는 테이블을 그대로 축소하지 말고 카드 리스트로 재구성해야 한다.",
    "이상 의심 카드가 첫 스크롤에서 바로 보여야 한다.",
    "숫자는 줄 수를 줄이되 차이금액과 차이율은 반드시 노출한다."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"id": "STD-01-M",
  "name": "매장 상세 모바일 초안",
  "route": "/stores/:storeCode",
  "purpose": "모바일 환경에서 판단 근거와 핵심 지표를 우선 노출하는 세로 적층형 상세 화면.",
  "summary": "상단 헤더와 상태 배지 다음에 2열 수치 카드, 전자결제 정합성 카드, 판단 근거 패널, 축약 차트, 캘린더 카드, 선택 일자 상세, 이슈 요약 순으로 배치한다.",
  "sections": [
    "MobileHeader",
    "MetricGrid",
    "IntegrityCard",
    "InsightPanel",
    "TrendChart",
    "CalendarCard",
    "DayDetailCard",
    "IssueSummary"
  ],
  "components": [
    "Mobile Header",
    "Metric Cards 2x2",
    "Integrity Summary Card",
    "Insight Panel",
    "Compact Trend Chart",
    "Calendar Placeholder/Card",
    "Day Detail Card",
    "Issue Summary Card"
  ],
  "interactions": [
    "캘린더 날짜 선택 시 하단 선택 일자 상세 갱신",
    "상단 뒤로가기 유지",
    "상태 배지는 헤더 영역에서 항상 고정적으로 인지 가능"
  ],
  "notes": [
    "모바일 상세에서는 판단 근거를 차트보다 위에 둬야 한다.",
    "캘린더는 데스크톱보다 정보량을 줄이고 상세 정보는 별도 카드로 분리한다.",
    "정합성 카드는 수치와 짧은 설명을 같이 둬서 숫자만 남지 않게 한다."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812"/>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C06835"/>
          </a:solidFill>
          <a:ln w="12700">
            <a:solidFill>
              <a:srgbClr val="C06835"/>
            </a:solidFill>
            <a:prstDash val="solid"/>
          </a:ln>
        </p:spPr>
      </p:sp>
      <p:sp>
        <p:nvSpPr>
          <p:cNvPr id="3" name="Text 1"/>
          <p:cNvSpPr/>
          <p:nvPr/>
        </p:nvSpPr>
        <p:spPr>
          <a:xfrm>
            <a:off x="640080" y="1005840"/>
            <a:ext cx="7132320" cy="1097280"/>
          </a:xfrm>
          <a:prstGeom prst="rect">
            <a:avLst/>
          </a:prstGeom>
          <a:noFill/>
          <a:ln/>
        </p:spPr>
        <p:txBody>
          <a:bodyPr wrap="square" lIns="0" tIns="0" rIns="0" bIns="0" rtlCol="0" anchor="ctr"/>
          <a:lstStyle/>
          <a:p>
            <a:pPr indent="0" marL="0">
              <a:buNone/>
            </a:pPr>
            <a:r>
              <a:rPr lang="en-US" sz="2400" b="1" dirty="0">
                <a:solidFill>
                  <a:srgbClr val="FFF9F3"/>
                </a:solidFill>
                <a:latin typeface="Aptos Display" pitchFamily="34" charset="0"/>
                <a:ea typeface="Aptos Display" pitchFamily="34" charset="-122"/>
                <a:cs typeface="Aptos Display" pitchFamily="34" charset="-120"/>
              </a:rPr>
              <a:t>공항 POS Monitor UI 초안</a:t>
            </a:r>
            <a:endParaRPr lang="en-US" sz="2400" dirty="0"/>
          </a:p>
        </p:txBody>
      </p:sp>
      <p:sp>
        <p:nvSpPr>
          <p:cNvPr id="4" name="Text 2"/>
          <p:cNvSpPr/>
          <p:nvPr/>
        </p:nvSpPr>
        <p:spPr>
          <a:xfrm>
            <a:off x="685800" y="1965960"/>
            <a:ext cx="6766560" cy="457200"/>
          </a:xfrm>
          <a:prstGeom prst="rect">
            <a:avLst/>
          </a:prstGeom>
          <a:noFill/>
          <a:ln/>
        </p:spPr>
        <p:txBody>
          <a:bodyPr wrap="square" lIns="0" tIns="0" rIns="0" bIns="0" rtlCol="0" anchor="ctr"/>
          <a:lstStyle/>
          <a:p>
            <a:pPr indent="0" marL="0">
              <a:buNone/>
            </a:pPr>
            <a:r>
              <a:rPr lang="en-US" sz="1200" dirty="0">
                <a:solidFill>
                  <a:srgbClr val="D8C3B0"/>
                </a:solidFill>
                <a:latin typeface="Aptos" pitchFamily="34" charset="0"/>
                <a:ea typeface="Aptos" pitchFamily="34" charset="-122"/>
                <a:cs typeface="Aptos" pitchFamily="34" charset="-120"/>
              </a:rPr>
              <a:t>DSH-01 / STD-01 / Mobile Draft with Notes</a:t>
            </a:r>
            <a:endParaRPr lang="en-US" sz="1200" dirty="0"/>
          </a:p>
        </p:txBody>
      </p:sp>
      <p:sp>
        <p:nvSpPr>
          <p:cNvPr id="5" name="Shape 3"/>
          <p:cNvSpPr/>
          <p:nvPr/>
        </p:nvSpPr>
        <p:spPr>
          <a:xfrm>
            <a:off x="8092440" y="868680"/>
            <a:ext cx="3383280" cy="3840480"/>
          </a:xfrm>
          <a:prstGeom prst="rect">
            <a:avLst/>
          </a:prstGeom>
          <a:solidFill>
            <a:srgbClr val="3A271E"/>
          </a:solidFill>
          <a:ln w="12700">
            <a:solidFill>
              <a:srgbClr val="C06835"/>
            </a:solidFill>
            <a:prstDash val="solid"/>
          </a:ln>
        </p:spPr>
      </p:sp>
      <p:sp>
        <p:nvSpPr>
          <p:cNvPr id="6" name="Text 4"/>
          <p:cNvSpPr/>
          <p:nvPr/>
        </p:nvSpPr>
        <p:spPr>
          <a:xfrm>
            <a:off x="8339328" y="1078992"/>
            <a:ext cx="2560320" cy="228600"/>
          </a:xfrm>
          <a:prstGeom prst="rect">
            <a:avLst/>
          </a:prstGeom>
          <a:noFill/>
          <a:ln/>
        </p:spPr>
        <p:txBody>
          <a:bodyPr wrap="square" lIns="0" tIns="0" rIns="0" bIns="0" rtlCol="0" anchor="ctr"/>
          <a:lstStyle/>
          <a:p>
            <a:pPr indent="0" marL="0">
              <a:buNone/>
            </a:pPr>
            <a:r>
              <a:rPr lang="en-US" sz="1200" b="1" dirty="0">
                <a:solidFill>
                  <a:srgbClr val="E9BE93"/>
                </a:solidFill>
                <a:latin typeface="Aptos Display" pitchFamily="34" charset="0"/>
                <a:ea typeface="Aptos Display" pitchFamily="34" charset="-122"/>
                <a:cs typeface="Aptos Display" pitchFamily="34" charset="-120"/>
              </a:rPr>
              <a:t>문서 정보</a:t>
            </a:r>
            <a:endParaRPr lang="en-US" sz="1200" dirty="0"/>
          </a:p>
        </p:txBody>
      </p:sp>
      <p:sp>
        <p:nvSpPr>
          <p:cNvPr id="7" name="Text 5"/>
          <p:cNvSpPr/>
          <p:nvPr/>
        </p:nvSpPr>
        <p:spPr>
          <a:xfrm>
            <a:off x="8339328" y="1508760"/>
            <a:ext cx="2697480" cy="1645920"/>
          </a:xfrm>
          <a:prstGeom prst="rect">
            <a:avLst/>
          </a:prstGeom>
          <a:noFill/>
          <a:ln/>
        </p:spPr>
        <p:txBody>
          <a:bodyPr wrap="square" lIns="0" tIns="0" rIns="0" bIns="0" rtlCol="0" anchor="ctr"/>
          <a:lstStyle/>
          <a:p>
            <a:pPr indent="0" marL="0">
              <a:buNone/>
            </a:pPr>
            <a:r>
              <a:rPr lang="en-US" sz="1050" dirty="0">
                <a:solidFill>
                  <a:srgbClr val="FFF9F3"/>
                </a:solidFill>
                <a:latin typeface="Aptos" pitchFamily="34" charset="0"/>
                <a:ea typeface="Aptos" pitchFamily="34" charset="-122"/>
                <a:cs typeface="Aptos" pitchFamily="34" charset="-120"/>
              </a:rPr>
              <a:t>프로젝트: airport-pos-monitor</a:t>
            </a:r>
            <a:endParaRPr lang="en-US" sz="1050" dirty="0"/>
          </a:p>
          <a:p>
            <a:pPr indent="0" marL="0">
              <a:buNone/>
            </a:pPr>
            <a:r>
              <a:rPr lang="en-US" sz="1050" dirty="0">
                <a:solidFill>
                  <a:srgbClr val="FFF9F3"/>
                </a:solidFill>
                <a:latin typeface="Aptos" pitchFamily="34" charset="0"/>
                <a:ea typeface="Aptos" pitchFamily="34" charset="-122"/>
                <a:cs typeface="Aptos" pitchFamily="34" charset="-120"/>
              </a:rPr>
              <a:t>화면 수: 4</a:t>
            </a:r>
            <a:endParaRPr lang="en-US" sz="1050" dirty="0"/>
          </a:p>
          <a:p>
            <a:pPr indent="0" marL="0">
              <a:buNone/>
            </a:pPr>
            <a:r>
              <a:rPr lang="en-US" sz="1050" dirty="0">
                <a:solidFill>
                  <a:srgbClr val="FFF9F3"/>
                </a:solidFill>
                <a:latin typeface="Aptos" pitchFamily="34" charset="0"/>
                <a:ea typeface="Aptos" pitchFamily="34" charset="-122"/>
                <a:cs typeface="Aptos" pitchFamily="34" charset="-120"/>
              </a:rPr>
              <a:t>생성일: 2026년 3월 27일</a:t>
            </a:r>
            <a:endParaRPr lang="en-US" sz="1050" dirty="0"/>
          </a:p>
          <a:p>
            <a:pPr indent="0" marL="0">
              <a:buNone/>
            </a:pPr>
            <a:r>
              <a:rPr lang="en-US" sz="1050" dirty="0">
                <a:solidFill>
                  <a:srgbClr val="FFF9F3"/>
                </a:solidFill>
                <a:latin typeface="Aptos" pitchFamily="34" charset="0"/>
                <a:ea typeface="Aptos" pitchFamily="34" charset="-122"/>
                <a:cs typeface="Aptos" pitchFamily="34" charset="-120"/>
              </a:rPr>
              <a:t>형식: PPTX</a:t>
            </a:r>
            <a:endParaRPr lang="en-US" sz="1050" dirty="0"/>
          </a:p>
        </p:txBody>
      </p:sp>
      <p:sp>
        <p:nvSpPr>
          <p:cNvPr id="8" name="Shape 6"/>
          <p:cNvSpPr/>
          <p:nvPr/>
        </p:nvSpPr>
        <p:spPr>
          <a:xfrm>
            <a:off x="685800" y="4023360"/>
            <a:ext cx="6995160" cy="1691640"/>
          </a:xfrm>
          <a:prstGeom prst="rect">
            <a:avLst/>
          </a:prstGeom>
          <a:solidFill>
            <a:srgbClr val="F8F1E7"/>
          </a:solidFill>
          <a:ln w="12700">
            <a:solidFill>
              <a:srgbClr val="C9AE95"/>
            </a:solidFill>
            <a:prstDash val="solid"/>
          </a:ln>
        </p:spPr>
      </p:sp>
      <p:sp>
        <p:nvSpPr>
          <p:cNvPr id="9" name="Text 7"/>
          <p:cNvSpPr/>
          <p:nvPr/>
        </p:nvSpPr>
        <p:spPr>
          <a:xfrm>
            <a:off x="868680" y="4133088"/>
            <a:ext cx="662940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요약</a:t>
            </a:r>
            <a:endParaRPr lang="en-US" sz="1100" dirty="0"/>
          </a:p>
        </p:txBody>
      </p:sp>
      <p:sp>
        <p:nvSpPr>
          <p:cNvPr id="10" name="Text 8"/>
          <p:cNvSpPr/>
          <p:nvPr/>
        </p:nvSpPr>
        <p:spPr>
          <a:xfrm>
            <a:off x="868680" y="4407408"/>
            <a:ext cx="6629400" cy="117957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화면설계서_pos-monitor, 와이어프레임_pos-monitor, UI디자인시안_pos-monitor, 피그마전환명세_pos-monitor를 기준으로 제작한 화면 UI 초안이다. 운영형 대시보드 톤, 상태 4단계 일관성, 판단 근거 우선 구조를 핵심 원칙으로 두고 데스크톱 2종과 모바일 2종을 정리했다.</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4D7"/>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2000" b="1" dirty="0">
                <a:solidFill>
                  <a:srgbClr val="231812"/>
                </a:solidFill>
                <a:latin typeface="Aptos Display" pitchFamily="34" charset="0"/>
                <a:ea typeface="Aptos Display" pitchFamily="34" charset="-122"/>
                <a:cs typeface="Aptos Display" pitchFamily="34" charset="-120"/>
              </a:rPr>
              <a:t>화면 구성</a:t>
            </a:r>
            <a:endParaRPr lang="en-US" sz="2000" dirty="0"/>
          </a:p>
        </p:txBody>
      </p:sp>
      <p:sp>
        <p:nvSpPr>
          <p:cNvPr id="3" name="Text 1"/>
          <p:cNvSpPr/>
          <p:nvPr/>
        </p:nvSpPr>
        <p:spPr>
          <a:xfrm>
            <a:off x="548640" y="804672"/>
            <a:ext cx="5486400" cy="228600"/>
          </a:xfrm>
          <a:prstGeom prst="rect">
            <a:avLst/>
          </a:prstGeom>
          <a:noFill/>
          <a:ln/>
        </p:spPr>
        <p:txBody>
          <a:bodyPr wrap="square" lIns="0" tIns="0" rIns="0" bIns="0" rtlCol="0" anchor="ctr"/>
          <a:lstStyle/>
          <a:p>
            <a:pPr indent="0" marL="0">
              <a:buNone/>
            </a:pPr>
            <a:r>
              <a:rPr lang="en-US" sz="1100" dirty="0">
                <a:solidFill>
                  <a:srgbClr val="6C5A51"/>
                </a:solidFill>
                <a:latin typeface="Aptos" pitchFamily="34" charset="0"/>
                <a:ea typeface="Aptos" pitchFamily="34" charset="-122"/>
                <a:cs typeface="Aptos" pitchFamily="34" charset="-120"/>
              </a:rPr>
              <a:t>상세 화면 설명 전에 전체 범위와 구성 항목을 먼저 보여줍니다.</a:t>
            </a:r>
            <a:endParaRPr lang="en-US" sz="1100" dirty="0"/>
          </a:p>
        </p:txBody>
      </p:sp>
      <p:sp>
        <p:nvSpPr>
          <p:cNvPr id="4" name="Shape 2"/>
          <p:cNvSpPr/>
          <p:nvPr/>
        </p:nvSpPr>
        <p:spPr>
          <a:xfrm>
            <a:off x="548640" y="1325880"/>
            <a:ext cx="5440680" cy="4526280"/>
          </a:xfrm>
          <a:prstGeom prst="rect">
            <a:avLst/>
          </a:prstGeom>
          <a:solidFill>
            <a:srgbClr val="F8F1E7"/>
          </a:solidFill>
          <a:ln w="12700">
            <a:solidFill>
              <a:srgbClr val="C9AE95"/>
            </a:solidFill>
            <a:prstDash val="solid"/>
          </a:ln>
        </p:spPr>
      </p:sp>
      <p:sp>
        <p:nvSpPr>
          <p:cNvPr id="5" name="Text 3"/>
          <p:cNvSpPr/>
          <p:nvPr/>
        </p:nvSpPr>
        <p:spPr>
          <a:xfrm>
            <a:off x="731520" y="1435608"/>
            <a:ext cx="50749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개요</a:t>
            </a:r>
            <a:endParaRPr lang="en-US" sz="1100" dirty="0"/>
          </a:p>
        </p:txBody>
      </p:sp>
      <p:sp>
        <p:nvSpPr>
          <p:cNvPr id="6" name="Text 4"/>
          <p:cNvSpPr/>
          <p:nvPr/>
        </p:nvSpPr>
        <p:spPr>
          <a:xfrm>
            <a:off x="731520" y="1709928"/>
            <a:ext cx="5074920" cy="4014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화면설계서_pos-monitor, 와이어프레임_pos-monitor, UI디자인시안_pos-monitor, 피그마전환명세_pos-monitor를 기준으로 제작한 화면 UI 초안이다. 운영형 대시보드 톤, 상태 4단계 일관성, 판단 근거 우선 구조를 핵심 원칙으로 두고 데스크톱 2종과 모바일 2종을 정리했다.</a:t>
            </a:r>
            <a:endParaRPr lang="en-US" sz="950" dirty="0"/>
          </a:p>
        </p:txBody>
      </p:sp>
      <p:sp>
        <p:nvSpPr>
          <p:cNvPr id="7" name="Shape 5"/>
          <p:cNvSpPr/>
          <p:nvPr/>
        </p:nvSpPr>
        <p:spPr>
          <a:xfrm>
            <a:off x="6217920" y="1325880"/>
            <a:ext cx="5440680" cy="4526280"/>
          </a:xfrm>
          <a:prstGeom prst="rect">
            <a:avLst/>
          </a:prstGeom>
          <a:solidFill>
            <a:srgbClr val="F8F1E7"/>
          </a:solidFill>
          <a:ln w="12700">
            <a:solidFill>
              <a:srgbClr val="C9AE95"/>
            </a:solidFill>
            <a:prstDash val="solid"/>
          </a:ln>
        </p:spPr>
      </p:sp>
      <p:sp>
        <p:nvSpPr>
          <p:cNvPr id="8" name="Text 6"/>
          <p:cNvSpPr/>
          <p:nvPr/>
        </p:nvSpPr>
        <p:spPr>
          <a:xfrm>
            <a:off x="6400800" y="1435608"/>
            <a:ext cx="50749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포함 화면</a:t>
            </a:r>
            <a:endParaRPr lang="en-US" sz="1100" dirty="0"/>
          </a:p>
        </p:txBody>
      </p:sp>
      <p:sp>
        <p:nvSpPr>
          <p:cNvPr id="9" name="Text 7"/>
          <p:cNvSpPr/>
          <p:nvPr/>
        </p:nvSpPr>
        <p:spPr>
          <a:xfrm>
            <a:off x="6400800" y="1709928"/>
            <a:ext cx="5074920" cy="4014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1. DSH-01 메인 대시보드  (/dashboard)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2. STD-01 매장 상세  (/stores/:storeCode)</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3. 대시보드 모바일 초안  (/dashboard)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4. 매장 상세 모바일 초안  (/stores/:storeCode)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1EA"/>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231812"/>
          </a:solidFill>
          <a:ln w="12700">
            <a:solidFill>
              <a:srgbClr val="231812"/>
            </a:solidFill>
            <a:prstDash val="solid"/>
          </a:ln>
        </p:spPr>
      </p:sp>
      <p:sp>
        <p:nvSpPr>
          <p:cNvPr id="3" name="Text 1"/>
          <p:cNvSpPr/>
          <p:nvPr/>
        </p:nvSpPr>
        <p:spPr>
          <a:xfrm>
            <a:off x="548640" y="219456"/>
            <a:ext cx="6766560" cy="256032"/>
          </a:xfrm>
          <a:prstGeom prst="rect">
            <a:avLst/>
          </a:prstGeom>
          <a:noFill/>
          <a:ln/>
        </p:spPr>
        <p:txBody>
          <a:bodyPr wrap="square" lIns="0" tIns="0" rIns="0" bIns="0" rtlCol="0" anchor="ctr"/>
          <a:lstStyle/>
          <a:p>
            <a:pPr indent="0" marL="0">
              <a:buNone/>
            </a:pPr>
            <a:r>
              <a:rPr lang="en-US" sz="2000" b="1" dirty="0">
                <a:solidFill>
                  <a:srgbClr val="FFF9F3"/>
                </a:solidFill>
                <a:latin typeface="Aptos Display" pitchFamily="34" charset="0"/>
                <a:ea typeface="Aptos Display" pitchFamily="34" charset="-122"/>
                <a:cs typeface="Aptos Display" pitchFamily="34" charset="-120"/>
              </a:rPr>
              <a:t>1. DSH-01 메인 대시보드</a:t>
            </a:r>
            <a:endParaRPr lang="en-US" sz="2000" dirty="0"/>
          </a:p>
        </p:txBody>
      </p:sp>
      <p:sp>
        <p:nvSpPr>
          <p:cNvPr id="4" name="Text 2"/>
          <p:cNvSpPr/>
          <p:nvPr/>
        </p:nvSpPr>
        <p:spPr>
          <a:xfrm>
            <a:off x="9372600" y="256032"/>
            <a:ext cx="2240280" cy="201168"/>
          </a:xfrm>
          <a:prstGeom prst="rect">
            <a:avLst/>
          </a:prstGeom>
          <a:noFill/>
          <a:ln/>
        </p:spPr>
        <p:txBody>
          <a:bodyPr wrap="square" lIns="0" tIns="0" rIns="0" bIns="0" rtlCol="0" anchor="ctr"/>
          <a:lstStyle/>
          <a:p>
            <a:pPr algn="r" indent="0" marL="0">
              <a:buNone/>
            </a:pPr>
            <a:r>
              <a:rPr lang="en-US" sz="1050" dirty="0">
                <a:solidFill>
                  <a:srgbClr val="D8C3B0"/>
                </a:solidFill>
                <a:latin typeface="Aptos" pitchFamily="34" charset="0"/>
                <a:ea typeface="Aptos" pitchFamily="34" charset="-122"/>
                <a:cs typeface="Aptos" pitchFamily="34" charset="-120"/>
              </a:rPr>
              <a:t>/dashboard</a:t>
            </a:r>
            <a:endParaRPr lang="en-US" sz="1050" dirty="0"/>
          </a:p>
        </p:txBody>
      </p:sp>
      <p:sp>
        <p:nvSpPr>
          <p:cNvPr id="5" name="Shape 3"/>
          <p:cNvSpPr/>
          <p:nvPr/>
        </p:nvSpPr>
        <p:spPr>
          <a:xfrm>
            <a:off x="548640" y="1097280"/>
            <a:ext cx="5760720" cy="5074920"/>
          </a:xfrm>
          <a:prstGeom prst="rect">
            <a:avLst/>
          </a:prstGeom>
          <a:solidFill>
            <a:srgbClr val="FFF9F3"/>
          </a:solidFill>
          <a:ln w="12700">
            <a:solidFill>
              <a:srgbClr val="C9AE95"/>
            </a:solidFill>
            <a:prstDash val="solid"/>
          </a:ln>
        </p:spPr>
      </p:sp>
      <p:sp>
        <p:nvSpPr>
          <p:cNvPr id="6" name="Text 4"/>
          <p:cNvSpPr/>
          <p:nvPr/>
        </p:nvSpPr>
        <p:spPr>
          <a:xfrm>
            <a:off x="786384" y="1261872"/>
            <a:ext cx="1828800" cy="182880"/>
          </a:xfrm>
          <a:prstGeom prst="rect">
            <a:avLst/>
          </a:prstGeom>
          <a:noFill/>
          <a:ln/>
        </p:spPr>
        <p:txBody>
          <a:bodyPr wrap="square" lIns="0" tIns="0" rIns="0" bIns="0" rtlCol="0" anchor="ctr"/>
          <a:lstStyle/>
          <a:p>
            <a:pPr indent="0" marL="0">
              <a:buNone/>
            </a:pPr>
            <a:r>
              <a:rPr lang="en-US" sz="1000" b="1" dirty="0">
                <a:solidFill>
                  <a:srgbClr val="6C5A51"/>
                </a:solidFill>
                <a:latin typeface="Aptos Display" pitchFamily="34" charset="0"/>
                <a:ea typeface="Aptos Display" pitchFamily="34" charset="-122"/>
                <a:cs typeface="Aptos Display" pitchFamily="34" charset="-120"/>
              </a:rPr>
              <a:t>화면 미리보기</a:t>
            </a:r>
            <a:endParaRPr lang="en-US" sz="1000" dirty="0"/>
          </a:p>
        </p:txBody>
      </p:sp>
      <p:sp>
        <p:nvSpPr>
          <p:cNvPr id="7" name="Shape 5"/>
          <p:cNvSpPr/>
          <p:nvPr/>
        </p:nvSpPr>
        <p:spPr>
          <a:xfrm>
            <a:off x="786384" y="1572768"/>
            <a:ext cx="5285232" cy="4315968"/>
          </a:xfrm>
          <a:prstGeom prst="rect">
            <a:avLst/>
          </a:prstGeom>
          <a:solidFill>
            <a:srgbClr val="FCF6F0"/>
          </a:solidFill>
          <a:ln w="12700">
            <a:solidFill>
              <a:srgbClr val="C9AE95"/>
            </a:solidFill>
            <a:prstDash val="solid"/>
          </a:ln>
        </p:spPr>
      </p:sp>
      <p:sp>
        <p:nvSpPr>
          <p:cNvPr id="8" name="Text 6"/>
          <p:cNvSpPr/>
          <p:nvPr/>
        </p:nvSpPr>
        <p:spPr>
          <a:xfrm>
            <a:off x="1051560" y="2880360"/>
            <a:ext cx="4663440" cy="731520"/>
          </a:xfrm>
          <a:prstGeom prst="rect">
            <a:avLst/>
          </a:prstGeom>
          <a:noFill/>
          <a:ln/>
        </p:spPr>
        <p:txBody>
          <a:bodyPr wrap="square" lIns="0" tIns="0" rIns="0" bIns="0" rtlCol="0" anchor="ctr"/>
          <a:lstStyle/>
          <a:p>
            <a:pPr algn="ctr" indent="0" marL="0">
              <a:buNone/>
            </a:pPr>
            <a:r>
              <a:rPr lang="en-US" sz="1100" dirty="0">
                <a:solidFill>
                  <a:srgbClr val="6C5A51"/>
                </a:solidFill>
                <a:latin typeface="Aptos" pitchFamily="34" charset="0"/>
                <a:ea typeface="Aptos" pitchFamily="34" charset="-122"/>
                <a:cs typeface="Aptos" pitchFamily="34" charset="-120"/>
              </a:rPr>
              <a:t>좌측 사이드바와 상단 글로벌 헤더를 유지한 운영형 레이아웃이다. 중앙 본문은 페이지 헤더, 5개 요약 카드, 필터 바, 위험도 순위 테이블, 하단 운영 보조 카드 순으로 배치한다.</a:t>
            </a:r>
            <a:endParaRPr lang="en-US" sz="1100" dirty="0"/>
          </a:p>
        </p:txBody>
      </p:sp>
      <p:sp>
        <p:nvSpPr>
          <p:cNvPr id="9" name="Shape 7"/>
          <p:cNvSpPr/>
          <p:nvPr/>
        </p:nvSpPr>
        <p:spPr>
          <a:xfrm>
            <a:off x="6629400" y="1097280"/>
            <a:ext cx="4983480" cy="1097280"/>
          </a:xfrm>
          <a:prstGeom prst="rect">
            <a:avLst/>
          </a:prstGeom>
          <a:solidFill>
            <a:srgbClr val="F8F1E7"/>
          </a:solidFill>
          <a:ln w="12700">
            <a:solidFill>
              <a:srgbClr val="C9AE95"/>
            </a:solidFill>
            <a:prstDash val="solid"/>
          </a:ln>
        </p:spPr>
      </p:sp>
      <p:sp>
        <p:nvSpPr>
          <p:cNvPr id="10" name="Text 8"/>
          <p:cNvSpPr/>
          <p:nvPr/>
        </p:nvSpPr>
        <p:spPr>
          <a:xfrm>
            <a:off x="6812280" y="120700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목적</a:t>
            </a:r>
            <a:endParaRPr lang="en-US" sz="1100" dirty="0"/>
          </a:p>
        </p:txBody>
      </p:sp>
      <p:sp>
        <p:nvSpPr>
          <p:cNvPr id="11" name="Text 9"/>
          <p:cNvSpPr/>
          <p:nvPr/>
        </p:nvSpPr>
        <p:spPr>
          <a:xfrm>
            <a:off x="6812280" y="1481328"/>
            <a:ext cx="4617720" cy="585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기준 월의 매장별 위험도와 상태를 빠르게 파악하고 수기 등록/업로드 같은 운영 액션으로 바로 이어지게 하는 메인 허브 화면.</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좌측 사이드바와 상단 글로벌 헤더를 유지한 운영형 레이아웃이다. 중앙 본문은 페이지 헤더, 5개 요약 카드, 필터 바, 위험도 순위 테이블, 하단 운영 보조 카드 순으로 배치한다.</a:t>
            </a:r>
            <a:endParaRPr lang="en-US" sz="950" dirty="0"/>
          </a:p>
        </p:txBody>
      </p:sp>
      <p:sp>
        <p:nvSpPr>
          <p:cNvPr id="12" name="Shape 10"/>
          <p:cNvSpPr/>
          <p:nvPr/>
        </p:nvSpPr>
        <p:spPr>
          <a:xfrm>
            <a:off x="6629400" y="2395728"/>
            <a:ext cx="4983480" cy="1874520"/>
          </a:xfrm>
          <a:prstGeom prst="rect">
            <a:avLst/>
          </a:prstGeom>
          <a:solidFill>
            <a:srgbClr val="F8F1E7"/>
          </a:solidFill>
          <a:ln w="12700">
            <a:solidFill>
              <a:srgbClr val="C9AE95"/>
            </a:solidFill>
            <a:prstDash val="solid"/>
          </a:ln>
        </p:spPr>
      </p:sp>
      <p:sp>
        <p:nvSpPr>
          <p:cNvPr id="13" name="Text 11"/>
          <p:cNvSpPr/>
          <p:nvPr/>
        </p:nvSpPr>
        <p:spPr>
          <a:xfrm>
            <a:off x="6812280" y="2505456"/>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구성</a:t>
            </a:r>
            <a:endParaRPr lang="en-US" sz="1100" dirty="0"/>
          </a:p>
        </p:txBody>
      </p:sp>
      <p:sp>
        <p:nvSpPr>
          <p:cNvPr id="14" name="Text 12"/>
          <p:cNvSpPr/>
          <p:nvPr/>
        </p:nvSpPr>
        <p:spPr>
          <a:xfrm>
            <a:off x="6812280" y="2779776"/>
            <a:ext cx="4617720" cy="136245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 구성</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PageHeader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SummaryRow</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FilterBar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TablePanel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SupportCardsRow</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구성요소</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Sidebar Navigation</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Global 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Primary/Secondary Buttons</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Summary Metric Cards x5</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Filter Fields</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Status Badges</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+2 more</a:t>
            </a:r>
            <a:endParaRPr lang="en-US" sz="950" dirty="0"/>
          </a:p>
        </p:txBody>
      </p:sp>
      <p:sp>
        <p:nvSpPr>
          <p:cNvPr id="15" name="Shape 13"/>
          <p:cNvSpPr/>
          <p:nvPr/>
        </p:nvSpPr>
        <p:spPr>
          <a:xfrm>
            <a:off x="6629400" y="4480560"/>
            <a:ext cx="4983480" cy="1691640"/>
          </a:xfrm>
          <a:prstGeom prst="rect">
            <a:avLst/>
          </a:prstGeom>
          <a:solidFill>
            <a:srgbClr val="F8F1E7"/>
          </a:solidFill>
          <a:ln w="12700">
            <a:solidFill>
              <a:srgbClr val="C9AE95"/>
            </a:solidFill>
            <a:prstDash val="solid"/>
          </a:ln>
        </p:spPr>
      </p:sp>
      <p:sp>
        <p:nvSpPr>
          <p:cNvPr id="16" name="Text 14"/>
          <p:cNvSpPr/>
          <p:nvPr/>
        </p:nvSpPr>
        <p:spPr>
          <a:xfrm>
            <a:off x="6812280" y="459028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동작 및 비고</a:t>
            </a:r>
            <a:endParaRPr lang="en-US" sz="1100" dirty="0"/>
          </a:p>
        </p:txBody>
      </p:sp>
      <p:sp>
        <p:nvSpPr>
          <p:cNvPr id="17" name="Text 15"/>
          <p:cNvSpPr/>
          <p:nvPr/>
        </p:nvSpPr>
        <p:spPr>
          <a:xfrm>
            <a:off x="6812280" y="4864608"/>
            <a:ext cx="4617720" cy="117957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동작</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요약 카드 클릭 시 해당 상태 필터 적용</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테이블 행 클릭 시 매장 상세로 이동</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정렬 기본값은 위험도 높은 순</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대기 상태 행은 누락 데이터 태그를 함께 노출</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비고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상태색은 카드 전체를 과하게 물들이지 않고 상단 스트립과 배지 중심으로 사용한다.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핵심 강조는 파랑 액션과 상태색 역할을 분리해 정보가 섞여 보이지 않게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테이블에서는 차이금액, 차이율, 상태를 우선적으로 읽게 해야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하단 보조 카드에는 재비교 필요, 누락 데이터, 최근 상태 변경을 요약해 운영자가 놓치지 않게 한다.</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1EA"/>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231812"/>
          </a:solidFill>
          <a:ln w="12700">
            <a:solidFill>
              <a:srgbClr val="231812"/>
            </a:solidFill>
            <a:prstDash val="solid"/>
          </a:ln>
        </p:spPr>
      </p:sp>
      <p:sp>
        <p:nvSpPr>
          <p:cNvPr id="3" name="Text 1"/>
          <p:cNvSpPr/>
          <p:nvPr/>
        </p:nvSpPr>
        <p:spPr>
          <a:xfrm>
            <a:off x="548640" y="219456"/>
            <a:ext cx="6766560" cy="256032"/>
          </a:xfrm>
          <a:prstGeom prst="rect">
            <a:avLst/>
          </a:prstGeom>
          <a:noFill/>
          <a:ln/>
        </p:spPr>
        <p:txBody>
          <a:bodyPr wrap="square" lIns="0" tIns="0" rIns="0" bIns="0" rtlCol="0" anchor="ctr"/>
          <a:lstStyle/>
          <a:p>
            <a:pPr indent="0" marL="0">
              <a:buNone/>
            </a:pPr>
            <a:r>
              <a:rPr lang="en-US" sz="2000" b="1" dirty="0">
                <a:solidFill>
                  <a:srgbClr val="FFF9F3"/>
                </a:solidFill>
                <a:latin typeface="Aptos Display" pitchFamily="34" charset="0"/>
                <a:ea typeface="Aptos Display" pitchFamily="34" charset="-122"/>
                <a:cs typeface="Aptos Display" pitchFamily="34" charset="-120"/>
              </a:rPr>
              <a:t>2. STD-01 매장 상세</a:t>
            </a:r>
            <a:endParaRPr lang="en-US" sz="2000" dirty="0"/>
          </a:p>
        </p:txBody>
      </p:sp>
      <p:sp>
        <p:nvSpPr>
          <p:cNvPr id="4" name="Text 2"/>
          <p:cNvSpPr/>
          <p:nvPr/>
        </p:nvSpPr>
        <p:spPr>
          <a:xfrm>
            <a:off x="9372600" y="256032"/>
            <a:ext cx="2240280" cy="201168"/>
          </a:xfrm>
          <a:prstGeom prst="rect">
            <a:avLst/>
          </a:prstGeom>
          <a:noFill/>
          <a:ln/>
        </p:spPr>
        <p:txBody>
          <a:bodyPr wrap="square" lIns="0" tIns="0" rIns="0" bIns="0" rtlCol="0" anchor="ctr"/>
          <a:lstStyle/>
          <a:p>
            <a:pPr algn="r" indent="0" marL="0">
              <a:buNone/>
            </a:pPr>
            <a:r>
              <a:rPr lang="en-US" sz="1050" dirty="0">
                <a:solidFill>
                  <a:srgbClr val="D8C3B0"/>
                </a:solidFill>
                <a:latin typeface="Aptos" pitchFamily="34" charset="0"/>
                <a:ea typeface="Aptos" pitchFamily="34" charset="-122"/>
                <a:cs typeface="Aptos" pitchFamily="34" charset="-120"/>
              </a:rPr>
              <a:t>/stores/:storeCode</a:t>
            </a:r>
            <a:endParaRPr lang="en-US" sz="1050" dirty="0"/>
          </a:p>
        </p:txBody>
      </p:sp>
      <p:sp>
        <p:nvSpPr>
          <p:cNvPr id="5" name="Shape 3"/>
          <p:cNvSpPr/>
          <p:nvPr/>
        </p:nvSpPr>
        <p:spPr>
          <a:xfrm>
            <a:off x="548640" y="1097280"/>
            <a:ext cx="5760720" cy="5074920"/>
          </a:xfrm>
          <a:prstGeom prst="rect">
            <a:avLst/>
          </a:prstGeom>
          <a:solidFill>
            <a:srgbClr val="FFF9F3"/>
          </a:solidFill>
          <a:ln w="12700">
            <a:solidFill>
              <a:srgbClr val="C9AE95"/>
            </a:solidFill>
            <a:prstDash val="solid"/>
          </a:ln>
        </p:spPr>
      </p:sp>
      <p:sp>
        <p:nvSpPr>
          <p:cNvPr id="6" name="Text 4"/>
          <p:cNvSpPr/>
          <p:nvPr/>
        </p:nvSpPr>
        <p:spPr>
          <a:xfrm>
            <a:off x="786384" y="1261872"/>
            <a:ext cx="1828800" cy="182880"/>
          </a:xfrm>
          <a:prstGeom prst="rect">
            <a:avLst/>
          </a:prstGeom>
          <a:noFill/>
          <a:ln/>
        </p:spPr>
        <p:txBody>
          <a:bodyPr wrap="square" lIns="0" tIns="0" rIns="0" bIns="0" rtlCol="0" anchor="ctr"/>
          <a:lstStyle/>
          <a:p>
            <a:pPr indent="0" marL="0">
              <a:buNone/>
            </a:pPr>
            <a:r>
              <a:rPr lang="en-US" sz="1000" b="1" dirty="0">
                <a:solidFill>
                  <a:srgbClr val="6C5A51"/>
                </a:solidFill>
                <a:latin typeface="Aptos Display" pitchFamily="34" charset="0"/>
                <a:ea typeface="Aptos Display" pitchFamily="34" charset="-122"/>
                <a:cs typeface="Aptos Display" pitchFamily="34" charset="-120"/>
              </a:rPr>
              <a:t>화면 미리보기</a:t>
            </a:r>
            <a:endParaRPr lang="en-US" sz="1000" dirty="0"/>
          </a:p>
        </p:txBody>
      </p:sp>
      <p:sp>
        <p:nvSpPr>
          <p:cNvPr id="7" name="Shape 5"/>
          <p:cNvSpPr/>
          <p:nvPr/>
        </p:nvSpPr>
        <p:spPr>
          <a:xfrm>
            <a:off x="786384" y="1572768"/>
            <a:ext cx="5285232" cy="4315968"/>
          </a:xfrm>
          <a:prstGeom prst="rect">
            <a:avLst/>
          </a:prstGeom>
          <a:solidFill>
            <a:srgbClr val="FCF6F0"/>
          </a:solidFill>
          <a:ln w="12700">
            <a:solidFill>
              <a:srgbClr val="C9AE95"/>
            </a:solidFill>
            <a:prstDash val="solid"/>
          </a:ln>
        </p:spPr>
      </p:sp>
      <p:sp>
        <p:nvSpPr>
          <p:cNvPr id="8" name="Text 6"/>
          <p:cNvSpPr/>
          <p:nvPr/>
        </p:nvSpPr>
        <p:spPr>
          <a:xfrm>
            <a:off x="1051560" y="2880360"/>
            <a:ext cx="4663440" cy="731520"/>
          </a:xfrm>
          <a:prstGeom prst="rect">
            <a:avLst/>
          </a:prstGeom>
          <a:noFill/>
          <a:ln/>
        </p:spPr>
        <p:txBody>
          <a:bodyPr wrap="square" lIns="0" tIns="0" rIns="0" bIns="0" rtlCol="0" anchor="ctr"/>
          <a:lstStyle/>
          <a:p>
            <a:pPr algn="ctr" indent="0" marL="0">
              <a:buNone/>
            </a:pPr>
            <a:r>
              <a:rPr lang="en-US" sz="1100" dirty="0">
                <a:solidFill>
                  <a:srgbClr val="6C5A51"/>
                </a:solidFill>
                <a:latin typeface="Aptos" pitchFamily="34" charset="0"/>
                <a:ea typeface="Aptos" pitchFamily="34" charset="-122"/>
                <a:cs typeface="Aptos" pitchFamily="34" charset="-120"/>
              </a:rPr>
              <a:t>상단 메타와 상태 배지 아래에 핵심 비교 카드 5개를 먼저 배치하고, 그 아래에 판단 근거와 운영 정보 패널을 둔다. 이후 월별 추이 차트, 일별 캘린더+선택 일자 상세, 대사 이슈 목록, 외부 참고 데이터 순으로 구성한다.</a:t>
            </a:r>
            <a:endParaRPr lang="en-US" sz="1100" dirty="0"/>
          </a:p>
        </p:txBody>
      </p:sp>
      <p:sp>
        <p:nvSpPr>
          <p:cNvPr id="9" name="Shape 7"/>
          <p:cNvSpPr/>
          <p:nvPr/>
        </p:nvSpPr>
        <p:spPr>
          <a:xfrm>
            <a:off x="6629400" y="1097280"/>
            <a:ext cx="4983480" cy="1097280"/>
          </a:xfrm>
          <a:prstGeom prst="rect">
            <a:avLst/>
          </a:prstGeom>
          <a:solidFill>
            <a:srgbClr val="F8F1E7"/>
          </a:solidFill>
          <a:ln w="12700">
            <a:solidFill>
              <a:srgbClr val="C9AE95"/>
            </a:solidFill>
            <a:prstDash val="solid"/>
          </a:ln>
        </p:spPr>
      </p:sp>
      <p:sp>
        <p:nvSpPr>
          <p:cNvPr id="10" name="Text 8"/>
          <p:cNvSpPr/>
          <p:nvPr/>
        </p:nvSpPr>
        <p:spPr>
          <a:xfrm>
            <a:off x="6812280" y="120700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목적</a:t>
            </a:r>
            <a:endParaRPr lang="en-US" sz="1100" dirty="0"/>
          </a:p>
        </p:txBody>
      </p:sp>
      <p:sp>
        <p:nvSpPr>
          <p:cNvPr id="11" name="Text 9"/>
          <p:cNvSpPr/>
          <p:nvPr/>
        </p:nvSpPr>
        <p:spPr>
          <a:xfrm>
            <a:off x="6812280" y="1481328"/>
            <a:ext cx="4617720" cy="585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단일 매장의 금월 비교 결과와 판단 근거를 깊게 검토하고 추이/일별 패턴/이슈를 한 화면에서 연결해서 보는 상세 화면.</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상단 메타와 상태 배지 아래에 핵심 비교 카드 5개를 먼저 배치하고, 그 아래에 판단 근거와 운영 정보 패널을 둔다. 이후 월별 추이 차트, 일별 캘린더+선택 일자 상세, 대사 이슈 목록, 외부 참고 데이터 순으로 구성한다.</a:t>
            </a:r>
            <a:endParaRPr lang="en-US" sz="950" dirty="0"/>
          </a:p>
        </p:txBody>
      </p:sp>
      <p:sp>
        <p:nvSpPr>
          <p:cNvPr id="12" name="Shape 10"/>
          <p:cNvSpPr/>
          <p:nvPr/>
        </p:nvSpPr>
        <p:spPr>
          <a:xfrm>
            <a:off x="6629400" y="2395728"/>
            <a:ext cx="4983480" cy="1874520"/>
          </a:xfrm>
          <a:prstGeom prst="rect">
            <a:avLst/>
          </a:prstGeom>
          <a:solidFill>
            <a:srgbClr val="F8F1E7"/>
          </a:solidFill>
          <a:ln w="12700">
            <a:solidFill>
              <a:srgbClr val="C9AE95"/>
            </a:solidFill>
            <a:prstDash val="solid"/>
          </a:ln>
        </p:spPr>
      </p:sp>
      <p:sp>
        <p:nvSpPr>
          <p:cNvPr id="13" name="Text 11"/>
          <p:cNvSpPr/>
          <p:nvPr/>
        </p:nvSpPr>
        <p:spPr>
          <a:xfrm>
            <a:off x="6812280" y="2505456"/>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구성</a:t>
            </a:r>
            <a:endParaRPr lang="en-US" sz="1100" dirty="0"/>
          </a:p>
        </p:txBody>
      </p:sp>
      <p:sp>
        <p:nvSpPr>
          <p:cNvPr id="14" name="Text 12"/>
          <p:cNvSpPr/>
          <p:nvPr/>
        </p:nvSpPr>
        <p:spPr>
          <a:xfrm>
            <a:off x="6812280" y="2779776"/>
            <a:ext cx="4617720" cy="136245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 구성</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PageHeader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MetricCards</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InsightRow</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TrendChartPanel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CalendarAndDayDetail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IssueTablePanel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+1 more</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구성요소</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Back Navigation</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Status Badge</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Metric Cards x5</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Insight 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Operations Meta Card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Line Trend Chart</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+4 more</a:t>
            </a:r>
            <a:endParaRPr lang="en-US" sz="950" dirty="0"/>
          </a:p>
        </p:txBody>
      </p:sp>
      <p:sp>
        <p:nvSpPr>
          <p:cNvPr id="15" name="Shape 13"/>
          <p:cNvSpPr/>
          <p:nvPr/>
        </p:nvSpPr>
        <p:spPr>
          <a:xfrm>
            <a:off x="6629400" y="4480560"/>
            <a:ext cx="4983480" cy="1691640"/>
          </a:xfrm>
          <a:prstGeom prst="rect">
            <a:avLst/>
          </a:prstGeom>
          <a:solidFill>
            <a:srgbClr val="F8F1E7"/>
          </a:solidFill>
          <a:ln w="12700">
            <a:solidFill>
              <a:srgbClr val="C9AE95"/>
            </a:solidFill>
            <a:prstDash val="solid"/>
          </a:ln>
        </p:spPr>
      </p:sp>
      <p:sp>
        <p:nvSpPr>
          <p:cNvPr id="16" name="Text 14"/>
          <p:cNvSpPr/>
          <p:nvPr/>
        </p:nvSpPr>
        <p:spPr>
          <a:xfrm>
            <a:off x="6812280" y="459028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동작 및 비고</a:t>
            </a:r>
            <a:endParaRPr lang="en-US" sz="1100" dirty="0"/>
          </a:p>
        </p:txBody>
      </p:sp>
      <p:sp>
        <p:nvSpPr>
          <p:cNvPr id="17" name="Text 15"/>
          <p:cNvSpPr/>
          <p:nvPr/>
        </p:nvSpPr>
        <p:spPr>
          <a:xfrm>
            <a:off x="6812280" y="4864608"/>
            <a:ext cx="4617720" cy="117957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동작</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캘린더 날짜 선택 시 우측/하단 선택 일자 상세 갱신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대사 이슈 목록은 선택 일자 기준으로 연동 가능하도록 설계</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비교축 문구는 항상 전월 대비로 고정 노출</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외부 데이터 미연동이어도 영역을 숨기지 않고 플레이스홀더 상태 유지</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비고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이 화면은 차트보다 판단 근거가 먼저 보여야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차이금액과 차이율은 가장 큰 숫자 강조가 필요하다.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외부 참고 데이터는 이상 판단의 보정값이 아니라 해석 보조 정보라는 점이 화면에서 읽혀야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캘린더 셀은 작은 데이터 카드처럼 보여야 하며 P/V/D 구조가 반복적으로 인지되어야 한다.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1EA"/>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231812"/>
          </a:solidFill>
          <a:ln w="12700">
            <a:solidFill>
              <a:srgbClr val="231812"/>
            </a:solidFill>
            <a:prstDash val="solid"/>
          </a:ln>
        </p:spPr>
      </p:sp>
      <p:sp>
        <p:nvSpPr>
          <p:cNvPr id="3" name="Text 1"/>
          <p:cNvSpPr/>
          <p:nvPr/>
        </p:nvSpPr>
        <p:spPr>
          <a:xfrm>
            <a:off x="548640" y="219456"/>
            <a:ext cx="6766560" cy="256032"/>
          </a:xfrm>
          <a:prstGeom prst="rect">
            <a:avLst/>
          </a:prstGeom>
          <a:noFill/>
          <a:ln/>
        </p:spPr>
        <p:txBody>
          <a:bodyPr wrap="square" lIns="0" tIns="0" rIns="0" bIns="0" rtlCol="0" anchor="ctr"/>
          <a:lstStyle/>
          <a:p>
            <a:pPr indent="0" marL="0">
              <a:buNone/>
            </a:pPr>
            <a:r>
              <a:rPr lang="en-US" sz="2000" b="1" dirty="0">
                <a:solidFill>
                  <a:srgbClr val="FFF9F3"/>
                </a:solidFill>
                <a:latin typeface="Aptos Display" pitchFamily="34" charset="0"/>
                <a:ea typeface="Aptos Display" pitchFamily="34" charset="-122"/>
                <a:cs typeface="Aptos Display" pitchFamily="34" charset="-120"/>
              </a:rPr>
              <a:t>3. 대시보드 모바일 초안</a:t>
            </a:r>
            <a:endParaRPr lang="en-US" sz="2000" dirty="0"/>
          </a:p>
        </p:txBody>
      </p:sp>
      <p:sp>
        <p:nvSpPr>
          <p:cNvPr id="4" name="Text 2"/>
          <p:cNvSpPr/>
          <p:nvPr/>
        </p:nvSpPr>
        <p:spPr>
          <a:xfrm>
            <a:off x="9372600" y="256032"/>
            <a:ext cx="2240280" cy="201168"/>
          </a:xfrm>
          <a:prstGeom prst="rect">
            <a:avLst/>
          </a:prstGeom>
          <a:noFill/>
          <a:ln/>
        </p:spPr>
        <p:txBody>
          <a:bodyPr wrap="square" lIns="0" tIns="0" rIns="0" bIns="0" rtlCol="0" anchor="ctr"/>
          <a:lstStyle/>
          <a:p>
            <a:pPr algn="r" indent="0" marL="0">
              <a:buNone/>
            </a:pPr>
            <a:r>
              <a:rPr lang="en-US" sz="1050" dirty="0">
                <a:solidFill>
                  <a:srgbClr val="D8C3B0"/>
                </a:solidFill>
                <a:latin typeface="Aptos" pitchFamily="34" charset="0"/>
                <a:ea typeface="Aptos" pitchFamily="34" charset="-122"/>
                <a:cs typeface="Aptos" pitchFamily="34" charset="-120"/>
              </a:rPr>
              <a:t>/dashboard</a:t>
            </a:r>
            <a:endParaRPr lang="en-US" sz="1050" dirty="0"/>
          </a:p>
        </p:txBody>
      </p:sp>
      <p:sp>
        <p:nvSpPr>
          <p:cNvPr id="5" name="Shape 3"/>
          <p:cNvSpPr/>
          <p:nvPr/>
        </p:nvSpPr>
        <p:spPr>
          <a:xfrm>
            <a:off x="548640" y="1097280"/>
            <a:ext cx="5760720" cy="5074920"/>
          </a:xfrm>
          <a:prstGeom prst="rect">
            <a:avLst/>
          </a:prstGeom>
          <a:solidFill>
            <a:srgbClr val="FFF9F3"/>
          </a:solidFill>
          <a:ln w="12700">
            <a:solidFill>
              <a:srgbClr val="C9AE95"/>
            </a:solidFill>
            <a:prstDash val="solid"/>
          </a:ln>
        </p:spPr>
      </p:sp>
      <p:sp>
        <p:nvSpPr>
          <p:cNvPr id="6" name="Text 4"/>
          <p:cNvSpPr/>
          <p:nvPr/>
        </p:nvSpPr>
        <p:spPr>
          <a:xfrm>
            <a:off x="786384" y="1261872"/>
            <a:ext cx="1828800" cy="182880"/>
          </a:xfrm>
          <a:prstGeom prst="rect">
            <a:avLst/>
          </a:prstGeom>
          <a:noFill/>
          <a:ln/>
        </p:spPr>
        <p:txBody>
          <a:bodyPr wrap="square" lIns="0" tIns="0" rIns="0" bIns="0" rtlCol="0" anchor="ctr"/>
          <a:lstStyle/>
          <a:p>
            <a:pPr indent="0" marL="0">
              <a:buNone/>
            </a:pPr>
            <a:r>
              <a:rPr lang="en-US" sz="1000" b="1" dirty="0">
                <a:solidFill>
                  <a:srgbClr val="6C5A51"/>
                </a:solidFill>
                <a:latin typeface="Aptos Display" pitchFamily="34" charset="0"/>
                <a:ea typeface="Aptos Display" pitchFamily="34" charset="-122"/>
                <a:cs typeface="Aptos Display" pitchFamily="34" charset="-120"/>
              </a:rPr>
              <a:t>화면 미리보기</a:t>
            </a:r>
            <a:endParaRPr lang="en-US" sz="1000" dirty="0"/>
          </a:p>
        </p:txBody>
      </p:sp>
      <p:sp>
        <p:nvSpPr>
          <p:cNvPr id="7" name="Shape 5"/>
          <p:cNvSpPr/>
          <p:nvPr/>
        </p:nvSpPr>
        <p:spPr>
          <a:xfrm>
            <a:off x="786384" y="1572768"/>
            <a:ext cx="5285232" cy="4315968"/>
          </a:xfrm>
          <a:prstGeom prst="rect">
            <a:avLst/>
          </a:prstGeom>
          <a:solidFill>
            <a:srgbClr val="FCF6F0"/>
          </a:solidFill>
          <a:ln w="12700">
            <a:solidFill>
              <a:srgbClr val="C9AE95"/>
            </a:solidFill>
            <a:prstDash val="solid"/>
          </a:ln>
        </p:spPr>
      </p:sp>
      <p:sp>
        <p:nvSpPr>
          <p:cNvPr id="8" name="Text 6"/>
          <p:cNvSpPr/>
          <p:nvPr/>
        </p:nvSpPr>
        <p:spPr>
          <a:xfrm>
            <a:off x="1051560" y="2880360"/>
            <a:ext cx="4663440" cy="731520"/>
          </a:xfrm>
          <a:prstGeom prst="rect">
            <a:avLst/>
          </a:prstGeom>
          <a:noFill/>
          <a:ln/>
        </p:spPr>
        <p:txBody>
          <a:bodyPr wrap="square" lIns="0" tIns="0" rIns="0" bIns="0" rtlCol="0" anchor="ctr"/>
          <a:lstStyle/>
          <a:p>
            <a:pPr algn="ctr" indent="0" marL="0">
              <a:buNone/>
            </a:pPr>
            <a:r>
              <a:rPr lang="en-US" sz="1100" dirty="0">
                <a:solidFill>
                  <a:srgbClr val="6C5A51"/>
                </a:solidFill>
                <a:latin typeface="Aptos" pitchFamily="34" charset="0"/>
                <a:ea typeface="Aptos" pitchFamily="34" charset="-122"/>
                <a:cs typeface="Aptos" pitchFamily="34" charset="-120"/>
              </a:rPr>
              <a:t>상단 헤더 아래에 2열 요약 카드 그리드를 두고, 필터 진입 버튼과 카드형 매장 리스트를 세로로 쌓는다. 데스크톱의 과도한 테이블 정보는 카드 1장 안에 상태/차이금액/차이율/정합성 정도로 압축한다.</a:t>
            </a:r>
            <a:endParaRPr lang="en-US" sz="1100" dirty="0"/>
          </a:p>
        </p:txBody>
      </p:sp>
      <p:sp>
        <p:nvSpPr>
          <p:cNvPr id="9" name="Shape 7"/>
          <p:cNvSpPr/>
          <p:nvPr/>
        </p:nvSpPr>
        <p:spPr>
          <a:xfrm>
            <a:off x="6629400" y="1097280"/>
            <a:ext cx="4983480" cy="1097280"/>
          </a:xfrm>
          <a:prstGeom prst="rect">
            <a:avLst/>
          </a:prstGeom>
          <a:solidFill>
            <a:srgbClr val="F8F1E7"/>
          </a:solidFill>
          <a:ln w="12700">
            <a:solidFill>
              <a:srgbClr val="C9AE95"/>
            </a:solidFill>
            <a:prstDash val="solid"/>
          </a:ln>
        </p:spPr>
      </p:sp>
      <p:sp>
        <p:nvSpPr>
          <p:cNvPr id="10" name="Text 8"/>
          <p:cNvSpPr/>
          <p:nvPr/>
        </p:nvSpPr>
        <p:spPr>
          <a:xfrm>
            <a:off x="6812280" y="120700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목적</a:t>
            </a:r>
            <a:endParaRPr lang="en-US" sz="1100" dirty="0"/>
          </a:p>
        </p:txBody>
      </p:sp>
      <p:sp>
        <p:nvSpPr>
          <p:cNvPr id="11" name="Text 9"/>
          <p:cNvSpPr/>
          <p:nvPr/>
        </p:nvSpPr>
        <p:spPr>
          <a:xfrm>
            <a:off x="6812280" y="1481328"/>
            <a:ext cx="4617720" cy="585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모바일 환경에서 전체 대시보드 테이블을 카드형 목록으로 축약하고 핵심 상태와 액션만 우선 제공하는 조회 중심 화면.</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상단 헤더 아래에 2열 요약 카드 그리드를 두고, 필터 진입 버튼과 카드형 매장 리스트를 세로로 쌓는다. 데스크톱의 과도한 테이블 정보는 카드 1장 안에 상태/차이금액/차이율/정합성 정도로 압축한다.</a:t>
            </a:r>
            <a:endParaRPr lang="en-US" sz="950" dirty="0"/>
          </a:p>
        </p:txBody>
      </p:sp>
      <p:sp>
        <p:nvSpPr>
          <p:cNvPr id="12" name="Shape 10"/>
          <p:cNvSpPr/>
          <p:nvPr/>
        </p:nvSpPr>
        <p:spPr>
          <a:xfrm>
            <a:off x="6629400" y="2395728"/>
            <a:ext cx="4983480" cy="1874520"/>
          </a:xfrm>
          <a:prstGeom prst="rect">
            <a:avLst/>
          </a:prstGeom>
          <a:solidFill>
            <a:srgbClr val="F8F1E7"/>
          </a:solidFill>
          <a:ln w="12700">
            <a:solidFill>
              <a:srgbClr val="C9AE95"/>
            </a:solidFill>
            <a:prstDash val="solid"/>
          </a:ln>
        </p:spPr>
      </p:sp>
      <p:sp>
        <p:nvSpPr>
          <p:cNvPr id="13" name="Text 11"/>
          <p:cNvSpPr/>
          <p:nvPr/>
        </p:nvSpPr>
        <p:spPr>
          <a:xfrm>
            <a:off x="6812280" y="2505456"/>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구성</a:t>
            </a:r>
            <a:endParaRPr lang="en-US" sz="1100" dirty="0"/>
          </a:p>
        </p:txBody>
      </p:sp>
      <p:sp>
        <p:nvSpPr>
          <p:cNvPr id="14" name="Text 12"/>
          <p:cNvSpPr/>
          <p:nvPr/>
        </p:nvSpPr>
        <p:spPr>
          <a:xfrm>
            <a:off x="6812280" y="2779776"/>
            <a:ext cx="4617720" cy="136245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 구성</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MobileHeader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SummaryGrid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FilterEntry</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StoreCardList</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구성요소</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Mobile 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Summary Cards 2x2</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Filter Entry Button</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Store Summary Cards</a:t>
            </a:r>
            <a:endParaRPr lang="en-US" sz="950" dirty="0"/>
          </a:p>
        </p:txBody>
      </p:sp>
      <p:sp>
        <p:nvSpPr>
          <p:cNvPr id="15" name="Shape 13"/>
          <p:cNvSpPr/>
          <p:nvPr/>
        </p:nvSpPr>
        <p:spPr>
          <a:xfrm>
            <a:off x="6629400" y="4480560"/>
            <a:ext cx="4983480" cy="1691640"/>
          </a:xfrm>
          <a:prstGeom prst="rect">
            <a:avLst/>
          </a:prstGeom>
          <a:solidFill>
            <a:srgbClr val="F8F1E7"/>
          </a:solidFill>
          <a:ln w="12700">
            <a:solidFill>
              <a:srgbClr val="C9AE95"/>
            </a:solidFill>
            <a:prstDash val="solid"/>
          </a:ln>
        </p:spPr>
      </p:sp>
      <p:sp>
        <p:nvSpPr>
          <p:cNvPr id="16" name="Text 14"/>
          <p:cNvSpPr/>
          <p:nvPr/>
        </p:nvSpPr>
        <p:spPr>
          <a:xfrm>
            <a:off x="6812280" y="459028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동작 및 비고</a:t>
            </a:r>
            <a:endParaRPr lang="en-US" sz="1100" dirty="0"/>
          </a:p>
        </p:txBody>
      </p:sp>
      <p:sp>
        <p:nvSpPr>
          <p:cNvPr id="17" name="Text 15"/>
          <p:cNvSpPr/>
          <p:nvPr/>
        </p:nvSpPr>
        <p:spPr>
          <a:xfrm>
            <a:off x="6812280" y="4864608"/>
            <a:ext cx="4617720" cy="117957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동작</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카드 터치 시 매장 상세로 이동</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필터 열기 버튼으로 상태/정렬/검색 패널 호출</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상단에서 수기 등록/업로드 액션 접근 가능</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비고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모바일에서는 테이블을 그대로 축소하지 말고 카드 리스트로 재구성해야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이상 의심 카드가 첫 스크롤에서 바로 보여야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숫자는 줄 수를 줄이되 차이금액과 차이율은 반드시 노출한다.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1EA"/>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231812"/>
          </a:solidFill>
          <a:ln w="12700">
            <a:solidFill>
              <a:srgbClr val="231812"/>
            </a:solidFill>
            <a:prstDash val="solid"/>
          </a:ln>
        </p:spPr>
      </p:sp>
      <p:sp>
        <p:nvSpPr>
          <p:cNvPr id="3" name="Text 1"/>
          <p:cNvSpPr/>
          <p:nvPr/>
        </p:nvSpPr>
        <p:spPr>
          <a:xfrm>
            <a:off x="548640" y="219456"/>
            <a:ext cx="6766560" cy="256032"/>
          </a:xfrm>
          <a:prstGeom prst="rect">
            <a:avLst/>
          </a:prstGeom>
          <a:noFill/>
          <a:ln/>
        </p:spPr>
        <p:txBody>
          <a:bodyPr wrap="square" lIns="0" tIns="0" rIns="0" bIns="0" rtlCol="0" anchor="ctr"/>
          <a:lstStyle/>
          <a:p>
            <a:pPr indent="0" marL="0">
              <a:buNone/>
            </a:pPr>
            <a:r>
              <a:rPr lang="en-US" sz="2000" b="1" dirty="0">
                <a:solidFill>
                  <a:srgbClr val="FFF9F3"/>
                </a:solidFill>
                <a:latin typeface="Aptos Display" pitchFamily="34" charset="0"/>
                <a:ea typeface="Aptos Display" pitchFamily="34" charset="-122"/>
                <a:cs typeface="Aptos Display" pitchFamily="34" charset="-120"/>
              </a:rPr>
              <a:t>4. 매장 상세 모바일 초안</a:t>
            </a:r>
            <a:endParaRPr lang="en-US" sz="2000" dirty="0"/>
          </a:p>
        </p:txBody>
      </p:sp>
      <p:sp>
        <p:nvSpPr>
          <p:cNvPr id="4" name="Text 2"/>
          <p:cNvSpPr/>
          <p:nvPr/>
        </p:nvSpPr>
        <p:spPr>
          <a:xfrm>
            <a:off x="9372600" y="256032"/>
            <a:ext cx="2240280" cy="201168"/>
          </a:xfrm>
          <a:prstGeom prst="rect">
            <a:avLst/>
          </a:prstGeom>
          <a:noFill/>
          <a:ln/>
        </p:spPr>
        <p:txBody>
          <a:bodyPr wrap="square" lIns="0" tIns="0" rIns="0" bIns="0" rtlCol="0" anchor="ctr"/>
          <a:lstStyle/>
          <a:p>
            <a:pPr algn="r" indent="0" marL="0">
              <a:buNone/>
            </a:pPr>
            <a:r>
              <a:rPr lang="en-US" sz="1050" dirty="0">
                <a:solidFill>
                  <a:srgbClr val="D8C3B0"/>
                </a:solidFill>
                <a:latin typeface="Aptos" pitchFamily="34" charset="0"/>
                <a:ea typeface="Aptos" pitchFamily="34" charset="-122"/>
                <a:cs typeface="Aptos" pitchFamily="34" charset="-120"/>
              </a:rPr>
              <a:t>/stores/:storeCode</a:t>
            </a:r>
            <a:endParaRPr lang="en-US" sz="1050" dirty="0"/>
          </a:p>
        </p:txBody>
      </p:sp>
      <p:sp>
        <p:nvSpPr>
          <p:cNvPr id="5" name="Shape 3"/>
          <p:cNvSpPr/>
          <p:nvPr/>
        </p:nvSpPr>
        <p:spPr>
          <a:xfrm>
            <a:off x="548640" y="1097280"/>
            <a:ext cx="5760720" cy="5074920"/>
          </a:xfrm>
          <a:prstGeom prst="rect">
            <a:avLst/>
          </a:prstGeom>
          <a:solidFill>
            <a:srgbClr val="FFF9F3"/>
          </a:solidFill>
          <a:ln w="12700">
            <a:solidFill>
              <a:srgbClr val="C9AE95"/>
            </a:solidFill>
            <a:prstDash val="solid"/>
          </a:ln>
        </p:spPr>
      </p:sp>
      <p:sp>
        <p:nvSpPr>
          <p:cNvPr id="6" name="Text 4"/>
          <p:cNvSpPr/>
          <p:nvPr/>
        </p:nvSpPr>
        <p:spPr>
          <a:xfrm>
            <a:off x="786384" y="1261872"/>
            <a:ext cx="1828800" cy="182880"/>
          </a:xfrm>
          <a:prstGeom prst="rect">
            <a:avLst/>
          </a:prstGeom>
          <a:noFill/>
          <a:ln/>
        </p:spPr>
        <p:txBody>
          <a:bodyPr wrap="square" lIns="0" tIns="0" rIns="0" bIns="0" rtlCol="0" anchor="ctr"/>
          <a:lstStyle/>
          <a:p>
            <a:pPr indent="0" marL="0">
              <a:buNone/>
            </a:pPr>
            <a:r>
              <a:rPr lang="en-US" sz="1000" b="1" dirty="0">
                <a:solidFill>
                  <a:srgbClr val="6C5A51"/>
                </a:solidFill>
                <a:latin typeface="Aptos Display" pitchFamily="34" charset="0"/>
                <a:ea typeface="Aptos Display" pitchFamily="34" charset="-122"/>
                <a:cs typeface="Aptos Display" pitchFamily="34" charset="-120"/>
              </a:rPr>
              <a:t>화면 미리보기</a:t>
            </a:r>
            <a:endParaRPr lang="en-US" sz="1000" dirty="0"/>
          </a:p>
        </p:txBody>
      </p:sp>
      <p:sp>
        <p:nvSpPr>
          <p:cNvPr id="7" name="Shape 5"/>
          <p:cNvSpPr/>
          <p:nvPr/>
        </p:nvSpPr>
        <p:spPr>
          <a:xfrm>
            <a:off x="786384" y="1572768"/>
            <a:ext cx="5285232" cy="4315968"/>
          </a:xfrm>
          <a:prstGeom prst="rect">
            <a:avLst/>
          </a:prstGeom>
          <a:solidFill>
            <a:srgbClr val="FCF6F0"/>
          </a:solidFill>
          <a:ln w="12700">
            <a:solidFill>
              <a:srgbClr val="C9AE95"/>
            </a:solidFill>
            <a:prstDash val="solid"/>
          </a:ln>
        </p:spPr>
      </p:sp>
      <p:sp>
        <p:nvSpPr>
          <p:cNvPr id="8" name="Text 6"/>
          <p:cNvSpPr/>
          <p:nvPr/>
        </p:nvSpPr>
        <p:spPr>
          <a:xfrm>
            <a:off x="1051560" y="2880360"/>
            <a:ext cx="4663440" cy="731520"/>
          </a:xfrm>
          <a:prstGeom prst="rect">
            <a:avLst/>
          </a:prstGeom>
          <a:noFill/>
          <a:ln/>
        </p:spPr>
        <p:txBody>
          <a:bodyPr wrap="square" lIns="0" tIns="0" rIns="0" bIns="0" rtlCol="0" anchor="ctr"/>
          <a:lstStyle/>
          <a:p>
            <a:pPr algn="ctr" indent="0" marL="0">
              <a:buNone/>
            </a:pPr>
            <a:r>
              <a:rPr lang="en-US" sz="1100" dirty="0">
                <a:solidFill>
                  <a:srgbClr val="6C5A51"/>
                </a:solidFill>
                <a:latin typeface="Aptos" pitchFamily="34" charset="0"/>
                <a:ea typeface="Aptos" pitchFamily="34" charset="-122"/>
                <a:cs typeface="Aptos" pitchFamily="34" charset="-120"/>
              </a:rPr>
              <a:t>상단 헤더와 상태 배지 다음에 2열 수치 카드, 전자결제 정합성 카드, 판단 근거 패널, 축약 차트, 캘린더 카드, 선택 일자 상세, 이슈 요약 순으로 배치한다.</a:t>
            </a:r>
            <a:endParaRPr lang="en-US" sz="1100" dirty="0"/>
          </a:p>
        </p:txBody>
      </p:sp>
      <p:sp>
        <p:nvSpPr>
          <p:cNvPr id="9" name="Shape 7"/>
          <p:cNvSpPr/>
          <p:nvPr/>
        </p:nvSpPr>
        <p:spPr>
          <a:xfrm>
            <a:off x="6629400" y="1097280"/>
            <a:ext cx="4983480" cy="1097280"/>
          </a:xfrm>
          <a:prstGeom prst="rect">
            <a:avLst/>
          </a:prstGeom>
          <a:solidFill>
            <a:srgbClr val="F8F1E7"/>
          </a:solidFill>
          <a:ln w="12700">
            <a:solidFill>
              <a:srgbClr val="C9AE95"/>
            </a:solidFill>
            <a:prstDash val="solid"/>
          </a:ln>
        </p:spPr>
      </p:sp>
      <p:sp>
        <p:nvSpPr>
          <p:cNvPr id="10" name="Text 8"/>
          <p:cNvSpPr/>
          <p:nvPr/>
        </p:nvSpPr>
        <p:spPr>
          <a:xfrm>
            <a:off x="6812280" y="120700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목적</a:t>
            </a:r>
            <a:endParaRPr lang="en-US" sz="1100" dirty="0"/>
          </a:p>
        </p:txBody>
      </p:sp>
      <p:sp>
        <p:nvSpPr>
          <p:cNvPr id="11" name="Text 9"/>
          <p:cNvSpPr/>
          <p:nvPr/>
        </p:nvSpPr>
        <p:spPr>
          <a:xfrm>
            <a:off x="6812280" y="1481328"/>
            <a:ext cx="4617720" cy="58521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모바일 환경에서 판단 근거와 핵심 지표를 우선 노출하는 세로 적층형 상세 화면.</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상단 헤더와 상태 배지 다음에 2열 수치 카드, 전자결제 정합성 카드, 판단 근거 패널, 축약 차트, 캘린더 카드, 선택 일자 상세, 이슈 요약 순으로 배치한다.</a:t>
            </a:r>
            <a:endParaRPr lang="en-US" sz="950" dirty="0"/>
          </a:p>
        </p:txBody>
      </p:sp>
      <p:sp>
        <p:nvSpPr>
          <p:cNvPr id="12" name="Shape 10"/>
          <p:cNvSpPr/>
          <p:nvPr/>
        </p:nvSpPr>
        <p:spPr>
          <a:xfrm>
            <a:off x="6629400" y="2395728"/>
            <a:ext cx="4983480" cy="1874520"/>
          </a:xfrm>
          <a:prstGeom prst="rect">
            <a:avLst/>
          </a:prstGeom>
          <a:solidFill>
            <a:srgbClr val="F8F1E7"/>
          </a:solidFill>
          <a:ln w="12700">
            <a:solidFill>
              <a:srgbClr val="C9AE95"/>
            </a:solidFill>
            <a:prstDash val="solid"/>
          </a:ln>
        </p:spPr>
      </p:sp>
      <p:sp>
        <p:nvSpPr>
          <p:cNvPr id="13" name="Text 11"/>
          <p:cNvSpPr/>
          <p:nvPr/>
        </p:nvSpPr>
        <p:spPr>
          <a:xfrm>
            <a:off x="6812280" y="2505456"/>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화면 구성</a:t>
            </a:r>
            <a:endParaRPr lang="en-US" sz="1100" dirty="0"/>
          </a:p>
        </p:txBody>
      </p:sp>
      <p:sp>
        <p:nvSpPr>
          <p:cNvPr id="14" name="Text 12"/>
          <p:cNvSpPr/>
          <p:nvPr/>
        </p:nvSpPr>
        <p:spPr>
          <a:xfrm>
            <a:off x="6812280" y="2779776"/>
            <a:ext cx="4617720" cy="136245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화면 구성</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MobileHeader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MetricGrid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IntegrityCard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InsightPanel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TrendChart</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CalendarCard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+2 more</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구성요소</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Mobile Header</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Metric Cards 2x2</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Integrity Summary Card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Insight Panel</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Compact Trend Chart</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Calendar Placeholder/Card</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+2 more</a:t>
            </a:r>
            <a:endParaRPr lang="en-US" sz="950" dirty="0"/>
          </a:p>
        </p:txBody>
      </p:sp>
      <p:sp>
        <p:nvSpPr>
          <p:cNvPr id="15" name="Shape 13"/>
          <p:cNvSpPr/>
          <p:nvPr/>
        </p:nvSpPr>
        <p:spPr>
          <a:xfrm>
            <a:off x="6629400" y="4480560"/>
            <a:ext cx="4983480" cy="1691640"/>
          </a:xfrm>
          <a:prstGeom prst="rect">
            <a:avLst/>
          </a:prstGeom>
          <a:solidFill>
            <a:srgbClr val="F8F1E7"/>
          </a:solidFill>
          <a:ln w="12700">
            <a:solidFill>
              <a:srgbClr val="C9AE95"/>
            </a:solidFill>
            <a:prstDash val="solid"/>
          </a:ln>
        </p:spPr>
      </p:sp>
      <p:sp>
        <p:nvSpPr>
          <p:cNvPr id="16" name="Text 14"/>
          <p:cNvSpPr/>
          <p:nvPr/>
        </p:nvSpPr>
        <p:spPr>
          <a:xfrm>
            <a:off x="6812280" y="4590288"/>
            <a:ext cx="4617720" cy="201168"/>
          </a:xfrm>
          <a:prstGeom prst="rect">
            <a:avLst/>
          </a:prstGeom>
          <a:noFill/>
          <a:ln/>
        </p:spPr>
        <p:txBody>
          <a:bodyPr wrap="square" lIns="0" tIns="0" rIns="0" bIns="0" rtlCol="0" anchor="ctr"/>
          <a:lstStyle/>
          <a:p>
            <a:pPr indent="0" marL="0">
              <a:buNone/>
            </a:pPr>
            <a:r>
              <a:rPr lang="en-US" sz="1100" b="1" dirty="0">
                <a:solidFill>
                  <a:srgbClr val="231812"/>
                </a:solidFill>
                <a:latin typeface="Aptos Display" pitchFamily="34" charset="0"/>
                <a:ea typeface="Aptos Display" pitchFamily="34" charset="-122"/>
                <a:cs typeface="Aptos Display" pitchFamily="34" charset="-120"/>
              </a:rPr>
              <a:t>동작 및 비고</a:t>
            </a:r>
            <a:endParaRPr lang="en-US" sz="1100" dirty="0"/>
          </a:p>
        </p:txBody>
      </p:sp>
      <p:sp>
        <p:nvSpPr>
          <p:cNvPr id="17" name="Text 15"/>
          <p:cNvSpPr/>
          <p:nvPr/>
        </p:nvSpPr>
        <p:spPr>
          <a:xfrm>
            <a:off x="6812280" y="4864608"/>
            <a:ext cx="4617720" cy="1179576"/>
          </a:xfrm>
          <a:prstGeom prst="rect">
            <a:avLst/>
          </a:prstGeom>
          <a:noFill/>
          <a:ln/>
        </p:spPr>
        <p:txBody>
          <a:bodyPr wrap="square" lIns="0" tIns="0" rIns="0" bIns="0" rtlCol="0" anchor="t"/>
          <a:lstStyle/>
          <a:p>
            <a:pPr indent="0" marL="0">
              <a:buNone/>
            </a:pPr>
            <a:r>
              <a:rPr lang="en-US" sz="950" dirty="0">
                <a:solidFill>
                  <a:srgbClr val="2C211C"/>
                </a:solidFill>
                <a:latin typeface="Aptos" pitchFamily="34" charset="0"/>
                <a:ea typeface="Aptos" pitchFamily="34" charset="-122"/>
                <a:cs typeface="Aptos" pitchFamily="34" charset="-120"/>
              </a:rPr>
              <a:t>동작</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캘린더 날짜 선택 시 하단 선택 일자 상세 갱신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상단 뒤로가기 유지</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상태 배지는 헤더 영역에서 항상 고정적으로 인지 가능</a:t>
            </a:r>
            <a:endParaRPr lang="en-US" sz="950" dirty="0"/>
          </a:p>
          <a:p>
            <a:pPr indent="0" marL="0">
              <a:buNone/>
            </a:pP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비고</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모바일 상세에서는 판단 근거를 차트보다 위에 둬야 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캘린더는 데스크톱보다 정보량을 줄이고 상세 정보는 별도 카드로 분리한다.</a:t>
            </a:r>
            <a:endParaRPr lang="en-US" sz="950" dirty="0"/>
          </a:p>
          <a:p>
            <a:pPr indent="0" marL="0">
              <a:buNone/>
            </a:pPr>
            <a:r>
              <a:rPr lang="en-US" sz="950" dirty="0">
                <a:solidFill>
                  <a:srgbClr val="2C211C"/>
                </a:solidFill>
                <a:latin typeface="Aptos" pitchFamily="34" charset="0"/>
                <a:ea typeface="Aptos" pitchFamily="34" charset="-122"/>
                <a:cs typeface="Aptos" pitchFamily="34" charset="-120"/>
              </a:rPr>
              <a:t>- 정합성 카드는 수치와 짧은 설명을 같이 둬서 숫자만 남지 않게 한다.</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airport-pos-monitor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공항 POS Monitor UI 초안</dc:title>
  <dc:subject>공항 POS Monitor UI 초안 screen design</dc:subject>
  <dc:creator>Codex</dc:creator>
  <cp:lastModifiedBy>Codex</cp:lastModifiedBy>
  <cp:revision>1</cp:revision>
  <dcterms:created xsi:type="dcterms:W3CDTF">2026-03-27T04:45:09Z</dcterms:created>
  <dcterms:modified xsi:type="dcterms:W3CDTF">2026-03-27T04:45:09Z</dcterms:modified>
</cp:coreProperties>
</file>